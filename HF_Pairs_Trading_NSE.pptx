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96C7-DCDD-DBF5-9EE3-4207FCFCF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4C861-108E-B912-EAA9-8E27F85E4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70A8D-4B35-EA0B-086C-56E18A81A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385C6-6A52-F275-AE6F-CFBE314B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6320A-E232-EA3D-1747-7DFCC317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72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52E40-BB75-F9B8-FD7A-79117ADC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2D6B-0797-B0DE-9537-A7EA0EACC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78D15-860B-CB18-EED4-5AA9EA55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9069F-4062-EFCC-577D-26614C6C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06463-63E3-7BC5-7539-B82773E4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39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C562-6609-8DD0-BAA6-612022F2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6ED07-CC1E-B714-C9B5-CD6EB49E4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D0034-8380-3D7E-AA06-357D99BA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E983F-3989-F3CF-327C-5816D0977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007ED-872F-5B1E-7C62-0E063C84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335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1E14-2DFE-CD90-6C0E-AD8A7BDA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F08D8-25B7-0782-DC52-BDDC86DD7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B7EDD-2FD1-F1A3-5372-615280B44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22328-4A8E-3CA9-8F42-81D594EE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5BA86-0772-67D0-4468-F08C1818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08E55-2931-D8C5-976A-12F68081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170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E2D3-B94C-A8AD-05F0-8C0AF68C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A80AA-2280-E9C0-C636-0CD9B1C0F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B28C3-6232-8C91-EEA3-D82105346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BD71F-0AEC-3EA6-4131-B19F15E3F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B320A-BAAD-AC04-9482-B65AB9953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A098F-C85B-EA63-8B52-45DFA094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CFDCB5-F4C1-0DB5-92FD-4F97493C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ACA8EA-C6FE-233F-ADF6-B8FA53A9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41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3D222-47B0-7498-3AD4-5D9216A9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D66F7-3F8D-E495-1622-3AD6D3A8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567BF-0242-4EC6-7894-E078B267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CA191-8FC8-1F48-4F8D-E289B9C8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37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7D201-FF63-B4D3-C390-606CD05FF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4EC37-FC4A-CF89-4325-EF8D3EF4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4831C-12B0-695F-153D-7EA8BDAB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79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7D9F-7DC1-F746-8832-CCF8CD0A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01EF-B442-1CDC-6065-8C20300E8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C21D4-9EF6-AC88-EC1E-B8F2CB365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8FC2A-8718-8E9C-7949-D25B3589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F0559-97F9-F626-B1A7-60235942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0CF49-F402-DC1F-E6D2-9C32CED2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7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0EE5-C1C1-7D13-4D8C-58AEA2BB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3CB8BE-3211-BDCF-3B02-5545A97E1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FD032-81F4-0D06-531A-D04D5E98D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53C24-AC7E-7BDA-9EF4-D4A726C4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709C0-9EDF-D38D-165B-6B174254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690F1-93E3-CA91-75E7-13B7AAAA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37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8150-748A-9499-AF99-9B95E790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25B5B-96E7-E3D2-96B8-AB0F44E10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188EF-716D-29AA-3A8E-867E2985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4BDCE-47F6-FC10-94F0-B43EC2C7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B6820-3E2A-4A5F-EABE-4F504045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03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2871C7-6D58-120B-8D0C-DD0DF99FB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E8D50-D58E-49B0-8989-6169EA9B0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CCEC1-887D-AB2A-9474-F06FAF88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4D4DC-1CAE-AF3B-79B2-B99FB7A9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3B793-E76E-0920-E68C-A448580C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08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49CDC-239B-0896-942F-44ECD48D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B0D5F-0B87-E964-7F07-2AB87F430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03B00-126F-6A7B-77F7-69A310A53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38723-AC43-45FB-9549-CF382428D1AF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105B4-D195-F6BD-E20F-A0139FE6B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6899-14B1-7CEA-A817-CF25D783D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9BF2C-704A-4CAC-AE2F-8AF094561C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41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1B06-FD48-2D26-7B80-B8FE6C96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High-Frequency Pairs Trading on NSE (NIFTY-50)</a:t>
            </a:r>
            <a:endParaRPr lang="en-GB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5667A-A73A-ED71-6C6C-A515E9040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		Executive Summary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		Methods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		KPIs &amp; Results</a:t>
            </a:r>
            <a:endParaRPr lang="en-GB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713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2011-CB93-7514-6724-7BE6FEDB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299DE-047A-E7B3-B280-14095DD67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Goal: Assess if HF pairs trading is profitable on NSE after real frictions</a:t>
            </a:r>
          </a:p>
          <a:p>
            <a:r>
              <a:rPr lang="en-US" dirty="0">
                <a:latin typeface="+mj-lt"/>
              </a:rPr>
              <a:t>Compare Ranked vs Random pairs and Preferred vs Classical models</a:t>
            </a:r>
          </a:p>
          <a:p>
            <a:r>
              <a:rPr lang="en-US" dirty="0">
                <a:latin typeface="+mj-lt"/>
              </a:rPr>
              <a:t>Mitigate data-snooping: evaluate full parameter grid</a:t>
            </a:r>
          </a:p>
          <a:p>
            <a:r>
              <a:rPr lang="en-US" dirty="0">
                <a:latin typeface="+mj-lt"/>
              </a:rPr>
              <a:t>Example portfolio (10 pairs, ₹100k each): solid Sharpe; delay hurts</a:t>
            </a: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3390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7216-C475-4BE6-B164-5C70ADCC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FA199-07D2-AAFE-B986-0ECB3368C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Committed Return (ann.)</a:t>
            </a:r>
          </a:p>
          <a:p>
            <a:r>
              <a:rPr lang="en-US" dirty="0">
                <a:latin typeface="+mj-lt"/>
              </a:rPr>
              <a:t>Invested Return (ann.)</a:t>
            </a:r>
          </a:p>
          <a:p>
            <a:r>
              <a:rPr lang="en-US" dirty="0">
                <a:latin typeface="+mj-lt"/>
              </a:rPr>
              <a:t>Sharpe Ratio</a:t>
            </a:r>
          </a:p>
          <a:p>
            <a:r>
              <a:rPr lang="en-US" dirty="0">
                <a:latin typeface="+mj-lt"/>
              </a:rPr>
              <a:t>Number of Trades</a:t>
            </a:r>
          </a:p>
          <a:p>
            <a:r>
              <a:rPr lang="en-US" dirty="0">
                <a:latin typeface="+mj-lt"/>
              </a:rPr>
              <a:t>Hit Rate</a:t>
            </a:r>
          </a:p>
          <a:p>
            <a:r>
              <a:rPr lang="en-US" dirty="0">
                <a:latin typeface="+mj-lt"/>
              </a:rPr>
              <a:t>Max Drawdown</a:t>
            </a: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616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4FC3-33BB-90E6-5937-1719A2BB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7822"/>
          </a:xfrm>
        </p:spPr>
        <p:txBody>
          <a:bodyPr/>
          <a:lstStyle/>
          <a:p>
            <a:r>
              <a:rPr lang="en-US" sz="3200" b="1" dirty="0">
                <a:latin typeface="+mn-lt"/>
              </a:rPr>
              <a:t>Sharpe by Model &amp; Pair Selection</a:t>
            </a:r>
            <a:endParaRPr lang="en-GB" sz="3200" b="1" dirty="0"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EC6337-D557-EDC4-31A7-D6A7B0A776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41" y="1440175"/>
            <a:ext cx="6083017" cy="466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E8505B-6E26-F631-1549-1F311B4267DC}"/>
              </a:ext>
            </a:extLst>
          </p:cNvPr>
          <p:cNvSpPr txBox="1"/>
          <p:nvPr/>
        </p:nvSpPr>
        <p:spPr>
          <a:xfrm>
            <a:off x="1371600" y="62396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+mj-lt"/>
              </a:rPr>
              <a:t>Ref: see HF_Pairs_Trading_NSE_Analysis.ipynb</a:t>
            </a:r>
          </a:p>
        </p:txBody>
      </p:sp>
    </p:spTree>
    <p:extLst>
      <p:ext uri="{BB962C8B-B14F-4D97-AF65-F5344CB8AC3E}">
        <p14:creationId xmlns:p14="http://schemas.microsoft.com/office/powerpoint/2010/main" val="165434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9410-D0F7-A64F-8EE6-A0570989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28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1-Tick Delay vs. No Delay (Committed Return)</a:t>
            </a:r>
            <a:endParaRPr lang="en-GB" sz="3200" b="1" dirty="0">
              <a:latin typeface="+mn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ACA361-FC9E-1625-B0B7-A99AFE4F3A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7" y="1299412"/>
            <a:ext cx="5559563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9B1284-850B-4080-73FD-F32F6B560BB4}"/>
              </a:ext>
            </a:extLst>
          </p:cNvPr>
          <p:cNvSpPr txBox="1"/>
          <p:nvPr/>
        </p:nvSpPr>
        <p:spPr>
          <a:xfrm>
            <a:off x="1111624" y="54200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+mj-lt"/>
              </a:rPr>
              <a:t>Ref: see HF_Pairs_Trading_NSE_Analysis.ipynb</a:t>
            </a:r>
          </a:p>
        </p:txBody>
      </p:sp>
    </p:spTree>
    <p:extLst>
      <p:ext uri="{BB962C8B-B14F-4D97-AF65-F5344CB8AC3E}">
        <p14:creationId xmlns:p14="http://schemas.microsoft.com/office/powerpoint/2010/main" val="1939665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2FDB-F166-DE8A-4ADB-B42EF2D14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8569"/>
          </a:xfrm>
        </p:spPr>
        <p:txBody>
          <a:bodyPr anchor="t">
            <a:normAutofit/>
          </a:bodyPr>
          <a:lstStyle/>
          <a:p>
            <a:r>
              <a:rPr lang="en-GB" sz="3200" b="1" dirty="0">
                <a:latin typeface="+mn-lt"/>
              </a:rPr>
              <a:t>Average Sharpe by Sector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1B1212-18EB-7BB0-9800-129714CBCB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23" y="1093694"/>
            <a:ext cx="5851358" cy="484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7D514B-DBB3-CE7D-B04E-823FDA1ED9BB}"/>
              </a:ext>
            </a:extLst>
          </p:cNvPr>
          <p:cNvSpPr txBox="1"/>
          <p:nvPr/>
        </p:nvSpPr>
        <p:spPr>
          <a:xfrm>
            <a:off x="1102659" y="603865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+mj-lt"/>
              </a:rPr>
              <a:t>Ref: see HF_Pairs_Trading_NSE_Analysis.ipynb</a:t>
            </a:r>
          </a:p>
        </p:txBody>
      </p:sp>
    </p:spTree>
    <p:extLst>
      <p:ext uri="{BB962C8B-B14F-4D97-AF65-F5344CB8AC3E}">
        <p14:creationId xmlns:p14="http://schemas.microsoft.com/office/powerpoint/2010/main" val="344472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CD8B-ABCB-00F0-2B98-1C467768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Cumulative Returns (Illustrative only)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9DF4406-8EB1-7806-DDA8-17F6E7A2AC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48736"/>
            <a:ext cx="5367539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F80655-6C9A-BC52-7020-187C43C8764C}"/>
              </a:ext>
            </a:extLst>
          </p:cNvPr>
          <p:cNvSpPr txBox="1"/>
          <p:nvPr/>
        </p:nvSpPr>
        <p:spPr>
          <a:xfrm>
            <a:off x="1219200" y="568903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+mj-lt"/>
              </a:rPr>
              <a:t>Ref: see HF_Pairs_Trading_NSE_Analysis.ipynb</a:t>
            </a:r>
          </a:p>
        </p:txBody>
      </p:sp>
    </p:spTree>
    <p:extLst>
      <p:ext uri="{BB962C8B-B14F-4D97-AF65-F5344CB8AC3E}">
        <p14:creationId xmlns:p14="http://schemas.microsoft.com/office/powerpoint/2010/main" val="443472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A263-7D9C-6AB3-A7DC-8A4DD38C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907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Portfolio Scenarios (Illustrative only)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FAA90E-381E-DF3A-2F8F-823133C06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262433"/>
              </p:ext>
            </p:extLst>
          </p:nvPr>
        </p:nvGraphicFramePr>
        <p:xfrm>
          <a:off x="1315104" y="1893934"/>
          <a:ext cx="9308071" cy="33683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5249">
                  <a:extLst>
                    <a:ext uri="{9D8B030D-6E8A-4147-A177-3AD203B41FA5}">
                      <a16:colId xmlns:a16="http://schemas.microsoft.com/office/drawing/2014/main" val="3184368309"/>
                    </a:ext>
                  </a:extLst>
                </a:gridCol>
                <a:gridCol w="942684">
                  <a:extLst>
                    <a:ext uri="{9D8B030D-6E8A-4147-A177-3AD203B41FA5}">
                      <a16:colId xmlns:a16="http://schemas.microsoft.com/office/drawing/2014/main" val="2552908826"/>
                    </a:ext>
                  </a:extLst>
                </a:gridCol>
                <a:gridCol w="1881198">
                  <a:extLst>
                    <a:ext uri="{9D8B030D-6E8A-4147-A177-3AD203B41FA5}">
                      <a16:colId xmlns:a16="http://schemas.microsoft.com/office/drawing/2014/main" val="3939841009"/>
                    </a:ext>
                  </a:extLst>
                </a:gridCol>
                <a:gridCol w="2102136">
                  <a:extLst>
                    <a:ext uri="{9D8B030D-6E8A-4147-A177-3AD203B41FA5}">
                      <a16:colId xmlns:a16="http://schemas.microsoft.com/office/drawing/2014/main" val="719077987"/>
                    </a:ext>
                  </a:extLst>
                </a:gridCol>
                <a:gridCol w="1055286">
                  <a:extLst>
                    <a:ext uri="{9D8B030D-6E8A-4147-A177-3AD203B41FA5}">
                      <a16:colId xmlns:a16="http://schemas.microsoft.com/office/drawing/2014/main" val="1722576390"/>
                    </a:ext>
                  </a:extLst>
                </a:gridCol>
                <a:gridCol w="921518">
                  <a:extLst>
                    <a:ext uri="{9D8B030D-6E8A-4147-A177-3AD203B41FA5}">
                      <a16:colId xmlns:a16="http://schemas.microsoft.com/office/drawing/2014/main" val="1597583381"/>
                    </a:ext>
                  </a:extLst>
                </a:gridCol>
              </a:tblGrid>
              <a:tr h="749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Scenario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Sharpe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Committed (ann.)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Invested (ann.)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Trades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Hit Rate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705539"/>
                  </a:ext>
                </a:extLst>
              </a:tr>
              <a:tr h="7498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Preferred + Ranked (delay 1)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1.01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16.44%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13.79%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13980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55.60%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284165"/>
                  </a:ext>
                </a:extLst>
              </a:tr>
              <a:tr h="11189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Classical + Random (delay 1)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0.47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6.31%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5.37%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14307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49.70%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283501"/>
                  </a:ext>
                </a:extLst>
              </a:tr>
              <a:tr h="7498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Preferred + Ranked (delay 0)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1.46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27.82%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22.99%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14278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</a:rPr>
                        <a:t>54.90%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863418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F38173-5826-3ADB-44B1-DA99502D3295}"/>
              </a:ext>
            </a:extLst>
          </p:cNvPr>
          <p:cNvSpPr txBox="1"/>
          <p:nvPr/>
        </p:nvSpPr>
        <p:spPr>
          <a:xfrm>
            <a:off x="1111624" y="54200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+mj-lt"/>
              </a:rPr>
              <a:t>Ref: see </a:t>
            </a:r>
            <a:r>
              <a:rPr lang="en-US" sz="1200" dirty="0">
                <a:latin typeface="+mj-lt"/>
              </a:rPr>
              <a:t>NSE_PairsTrading_KPIs.xlsx (summary)</a:t>
            </a:r>
            <a:endParaRPr lang="en-GB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765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252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High-Frequency Pairs Trading on NSE (NIFTY-50)</vt:lpstr>
      <vt:lpstr>Executive Summary</vt:lpstr>
      <vt:lpstr>Key Performance Indicators (KPIs)</vt:lpstr>
      <vt:lpstr>Sharpe by Model &amp; Pair Selection</vt:lpstr>
      <vt:lpstr>1-Tick Delay vs. No Delay (Committed Return)</vt:lpstr>
      <vt:lpstr>Average Sharpe by Sector</vt:lpstr>
      <vt:lpstr>Cumulative Returns (Illustrative only)</vt:lpstr>
      <vt:lpstr>Portfolio Scenarios (Illustrative only)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Sanjiv Rao</dc:creator>
  <cp:lastModifiedBy>Sanjiv Rao</cp:lastModifiedBy>
  <cp:revision>23</cp:revision>
  <dcterms:created xsi:type="dcterms:W3CDTF">2025-11-07T15:12:31Z</dcterms:created>
  <dcterms:modified xsi:type="dcterms:W3CDTF">2025-11-07T16:16:06Z</dcterms:modified>
</cp:coreProperties>
</file>